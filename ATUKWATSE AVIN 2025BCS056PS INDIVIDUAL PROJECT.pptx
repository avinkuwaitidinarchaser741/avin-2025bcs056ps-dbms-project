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4" autoAdjust="0"/>
    <p:restoredTop sz="94660"/>
  </p:normalViewPr>
  <p:slideViewPr>
    <p:cSldViewPr snapToGrid="0">
      <p:cViewPr>
        <p:scale>
          <a:sx n="66" d="100"/>
          <a:sy n="66" d="100"/>
        </p:scale>
        <p:origin x="9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UKWATSE AVIN" userId="ee2e4a3ce89e4a9a" providerId="LiveId" clId="{9ED7B043-5B38-48FA-A306-B594D286C39A}"/>
    <pc:docChg chg="custSel delSld modSld">
      <pc:chgData name="ATUKWATSE AVIN" userId="ee2e4a3ce89e4a9a" providerId="LiveId" clId="{9ED7B043-5B38-48FA-A306-B594D286C39A}" dt="2026-05-06T20:06:53.613" v="32" actId="255"/>
      <pc:docMkLst>
        <pc:docMk/>
      </pc:docMkLst>
      <pc:sldChg chg="modSp mod">
        <pc:chgData name="ATUKWATSE AVIN" userId="ee2e4a3ce89e4a9a" providerId="LiveId" clId="{9ED7B043-5B38-48FA-A306-B594D286C39A}" dt="2026-05-06T20:05:46.720" v="28" actId="27636"/>
        <pc:sldMkLst>
          <pc:docMk/>
          <pc:sldMk cId="0" sldId="256"/>
        </pc:sldMkLst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56"/>
            <ac:spMk id="2" creationId="{00000000-0000-0000-0000-000000000000}"/>
          </ac:spMkLst>
        </pc:spChg>
        <pc:spChg chg="mod">
          <ac:chgData name="ATUKWATSE AVIN" userId="ee2e4a3ce89e4a9a" providerId="LiveId" clId="{9ED7B043-5B38-48FA-A306-B594D286C39A}" dt="2026-05-06T20:05:46.720" v="28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ATUKWATSE AVIN" userId="ee2e4a3ce89e4a9a" providerId="LiveId" clId="{9ED7B043-5B38-48FA-A306-B594D286C39A}" dt="2026-05-06T20:05:46.326" v="22"/>
        <pc:sldMkLst>
          <pc:docMk/>
          <pc:sldMk cId="0" sldId="257"/>
        </pc:sldMkLst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TUKWATSE AVIN" userId="ee2e4a3ce89e4a9a" providerId="LiveId" clId="{9ED7B043-5B38-48FA-A306-B594D286C39A}" dt="2026-05-06T20:06:53.613" v="32" actId="255"/>
        <pc:sldMkLst>
          <pc:docMk/>
          <pc:sldMk cId="0" sldId="258"/>
        </pc:sldMkLst>
        <pc:spChg chg="mod">
          <ac:chgData name="ATUKWATSE AVIN" userId="ee2e4a3ce89e4a9a" providerId="LiveId" clId="{9ED7B043-5B38-48FA-A306-B594D286C39A}" dt="2026-05-06T20:06:53.613" v="32" actId="255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ATUKWATSE AVIN" userId="ee2e4a3ce89e4a9a" providerId="LiveId" clId="{9ED7B043-5B38-48FA-A306-B594D286C39A}" dt="2026-05-06T20:03:17.679" v="0" actId="2696"/>
        <pc:sldMkLst>
          <pc:docMk/>
          <pc:sldMk cId="0" sldId="259"/>
        </pc:sldMkLst>
      </pc:sldChg>
      <pc:sldChg chg="modSp mod">
        <pc:chgData name="ATUKWATSE AVIN" userId="ee2e4a3ce89e4a9a" providerId="LiveId" clId="{9ED7B043-5B38-48FA-A306-B594D286C39A}" dt="2026-05-06T20:05:46.633" v="24" actId="27636"/>
        <pc:sldMkLst>
          <pc:docMk/>
          <pc:sldMk cId="0" sldId="260"/>
        </pc:sldMkLst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60"/>
            <ac:spMk id="2" creationId="{00000000-0000-0000-0000-000000000000}"/>
          </ac:spMkLst>
        </pc:spChg>
        <pc:spChg chg="mod">
          <ac:chgData name="ATUKWATSE AVIN" userId="ee2e4a3ce89e4a9a" providerId="LiveId" clId="{9ED7B043-5B38-48FA-A306-B594D286C39A}" dt="2026-05-06T20:05:46.633" v="24" actId="2763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TUKWATSE AVIN" userId="ee2e4a3ce89e4a9a" providerId="LiveId" clId="{9ED7B043-5B38-48FA-A306-B594D286C39A}" dt="2026-05-06T20:05:46.691" v="26" actId="27636"/>
        <pc:sldMkLst>
          <pc:docMk/>
          <pc:sldMk cId="0" sldId="261"/>
        </pc:sldMkLst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61"/>
            <ac:spMk id="2" creationId="{00000000-0000-0000-0000-000000000000}"/>
          </ac:spMkLst>
        </pc:spChg>
        <pc:spChg chg="mod">
          <ac:chgData name="ATUKWATSE AVIN" userId="ee2e4a3ce89e4a9a" providerId="LiveId" clId="{9ED7B043-5B38-48FA-A306-B594D286C39A}" dt="2026-05-06T20:05:46.688" v="25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TUKWATSE AVIN" userId="ee2e4a3ce89e4a9a" providerId="LiveId" clId="{9ED7B043-5B38-48FA-A306-B594D286C39A}" dt="2026-05-06T20:05:46.691" v="26" actId="2763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ATUKWATSE AVIN" userId="ee2e4a3ce89e4a9a" providerId="LiveId" clId="{9ED7B043-5B38-48FA-A306-B594D286C39A}" dt="2026-05-06T20:05:46.713" v="27" actId="27636"/>
        <pc:sldMkLst>
          <pc:docMk/>
          <pc:sldMk cId="0" sldId="262"/>
        </pc:sldMkLst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62"/>
            <ac:spMk id="2" creationId="{00000000-0000-0000-0000-000000000000}"/>
          </ac:spMkLst>
        </pc:spChg>
        <pc:spChg chg="mod">
          <ac:chgData name="ATUKWATSE AVIN" userId="ee2e4a3ce89e4a9a" providerId="LiveId" clId="{9ED7B043-5B38-48FA-A306-B594D286C39A}" dt="2026-05-06T20:05:46.713" v="27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TUKWATSE AVIN" userId="ee2e4a3ce89e4a9a" providerId="LiveId" clId="{9ED7B043-5B38-48FA-A306-B594D286C39A}" dt="2026-05-06T20:05:46.326" v="22"/>
        <pc:sldMkLst>
          <pc:docMk/>
          <pc:sldMk cId="0" sldId="263"/>
        </pc:sldMkLst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63"/>
            <ac:spMk id="2" creationId="{00000000-0000-0000-0000-000000000000}"/>
          </ac:spMkLst>
        </pc:spChg>
        <pc:spChg chg="mod">
          <ac:chgData name="ATUKWATSE AVIN" userId="ee2e4a3ce89e4a9a" providerId="LiveId" clId="{9ED7B043-5B38-48FA-A306-B594D286C39A}" dt="2026-05-06T20:05:46.326" v="22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8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7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1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38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0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50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0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1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0844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421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2369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73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71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9B6F9-0273-4FAA-B92D-91A695E1BD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AF7CD2-B760-46BF-80DA-504279B80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48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Mbarara  university of science and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Name: ATUKWATSE AVIN</a:t>
            </a:r>
          </a:p>
          <a:p>
            <a:r>
              <a:rPr lang="en-US" dirty="0"/>
              <a:t>Reg no:2025/BCS/056/PS</a:t>
            </a:r>
          </a:p>
          <a:p>
            <a:r>
              <a:rPr lang="en-US" dirty="0"/>
              <a:t>Title of my project:</a:t>
            </a:r>
            <a:r>
              <a:rPr lang="en-US" u="sng" dirty="0"/>
              <a:t>Monthly_land_installments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175" y="346075"/>
            <a:ext cx="10515600" cy="1325563"/>
          </a:xfrm>
        </p:spPr>
        <p:txBody>
          <a:bodyPr/>
          <a:lstStyle/>
          <a:p>
            <a:r>
              <a:rPr lang="en-US" u="sng" dirty="0"/>
              <a:t>PROJECT OVERVIEW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u="sng" dirty="0"/>
              <a:t>PURPOSE</a:t>
            </a:r>
          </a:p>
          <a:p>
            <a:r>
              <a:rPr lang="en-US" dirty="0"/>
              <a:t>Track and manage monthly land purchase installment payments, between buyers,sellers and real estate agents in Uganda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577933"/>
          </a:xfrm>
        </p:spPr>
        <p:txBody>
          <a:bodyPr/>
          <a:lstStyle/>
          <a:p>
            <a:r>
              <a:rPr lang="en-US" u="sng" dirty="0"/>
              <a:t>SCALE</a:t>
            </a:r>
          </a:p>
          <a:p>
            <a:r>
              <a:rPr lang="en-US" dirty="0"/>
              <a:t>6 interconnected tables,8 clients,5 agents,8parcels,8 transactions,16 installments ,21 notifications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DATABASE SCHEMA OF MY PROJECT</a:t>
            </a:r>
            <a:br>
              <a:rPr lang="en-US" dirty="0"/>
            </a:br>
            <a:r>
              <a:rPr lang="en-US" u="sng" dirty="0"/>
              <a:t>6 relational tables, with full foreign key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dirty="0"/>
              <a:t>AGENTS:</a:t>
            </a:r>
          </a:p>
          <a:p>
            <a:r>
              <a:rPr lang="en-US" sz="5000" dirty="0"/>
              <a:t>al estate staff and license info</a:t>
            </a:r>
          </a:p>
          <a:p>
            <a:r>
              <a:rPr lang="en-US" sz="5000" dirty="0" err="1"/>
              <a:t>Agent_id,full_name,license_noRe,phone,e</a:t>
            </a:r>
            <a:r>
              <a:rPr lang="en-US" sz="5000" dirty="0"/>
              <a:t> mail, is _active,hired _date</a:t>
            </a:r>
          </a:p>
          <a:p>
            <a:r>
              <a:rPr lang="en-US" sz="5000" dirty="0"/>
              <a:t>CLIENTS:</a:t>
            </a:r>
          </a:p>
          <a:p>
            <a:r>
              <a:rPr lang="en-US" sz="5000" dirty="0"/>
              <a:t>Land buyers on installment plans</a:t>
            </a:r>
          </a:p>
          <a:p>
            <a:r>
              <a:rPr lang="en-US" sz="5000" dirty="0"/>
              <a:t>Client_id,full_name,phone,e mail,id_type,id_number</a:t>
            </a:r>
          </a:p>
          <a:p>
            <a:r>
              <a:rPr lang="en-US" sz="5000" dirty="0"/>
              <a:t>PARCELS:</a:t>
            </a:r>
          </a:p>
          <a:p>
            <a:r>
              <a:rPr lang="en-US" sz="5000" dirty="0"/>
              <a:t>Land plots with zones and pricing</a:t>
            </a:r>
          </a:p>
          <a:p>
            <a:r>
              <a:rPr lang="en-US" sz="5000" dirty="0"/>
              <a:t>Parcel_id,parcel_no,size_acres,zone_type,location_desc,asking_price,status</a:t>
            </a:r>
          </a:p>
          <a:p>
            <a:r>
              <a:rPr lang="en-US" sz="5000" dirty="0"/>
              <a:t>TRANSACTIONS:</a:t>
            </a:r>
          </a:p>
          <a:p>
            <a:r>
              <a:rPr lang="en-US" sz="5000" dirty="0"/>
              <a:t>Sale agreements and payments methods</a:t>
            </a:r>
          </a:p>
          <a:p>
            <a:r>
              <a:rPr lang="en-US" sz="5000" dirty="0"/>
              <a:t>Tx_id,parcel_id,buyer_id,seller_id,agent_id,sale_price,sale_date,status</a:t>
            </a:r>
          </a:p>
          <a:p>
            <a:r>
              <a:rPr lang="en-US" sz="5000" dirty="0"/>
              <a:t>MONTHLY_LAND_INSTALLMENTS:</a:t>
            </a:r>
          </a:p>
          <a:p>
            <a:r>
              <a:rPr lang="en-US" sz="5000" dirty="0"/>
              <a:t>Monthly payments schedule per unit</a:t>
            </a:r>
          </a:p>
          <a:p>
            <a:r>
              <a:rPr lang="en-US" sz="5000" dirty="0"/>
              <a:t>Installment_id,sales_month,sale_id,installment_no,amount__paid,balance_remaining</a:t>
            </a:r>
          </a:p>
          <a:p>
            <a:r>
              <a:rPr lang="en-US" sz="5000" dirty="0"/>
              <a:t>INSTALLMENT_NOTIFICATIONS;</a:t>
            </a:r>
          </a:p>
          <a:p>
            <a:r>
              <a:rPr lang="en-US" sz="5000" dirty="0"/>
              <a:t>SMS/Email/Whatsapp alerts sent</a:t>
            </a:r>
          </a:p>
          <a:p>
            <a:r>
              <a:rPr lang="en-US" sz="5000" dirty="0"/>
              <a:t>Notification_id,installment_id,notification_type,channel,is_ sent,sent_at</a:t>
            </a:r>
          </a:p>
          <a:p>
            <a:endParaRPr lang="en-US" sz="5000" dirty="0"/>
          </a:p>
          <a:p>
            <a:endParaRPr lang="en-US" sz="5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NOTABLE SYSTEM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Installment Tracking;</a:t>
            </a:r>
          </a:p>
          <a:p>
            <a:r>
              <a:rPr lang="en-US" dirty="0"/>
              <a:t>Full repayment schedule per client.Each row tracks installment_no,amount_paid,balance_remaining,and due/paid dates</a:t>
            </a:r>
          </a:p>
          <a:p>
            <a:r>
              <a:rPr lang="en-US" dirty="0"/>
              <a:t>Denormalised month:</a:t>
            </a:r>
          </a:p>
          <a:p>
            <a:r>
              <a:rPr lang="en-US" dirty="0"/>
              <a:t>Sales_month(yyyy-mm) stored on both transactions and installments for fast time_range queries without date functions.</a:t>
            </a:r>
          </a:p>
          <a:p>
            <a:r>
              <a:rPr lang="en-US" dirty="0"/>
              <a:t>Multi_Channel Alerts:</a:t>
            </a:r>
          </a:p>
          <a:p>
            <a:r>
              <a:rPr lang="en-US" dirty="0"/>
              <a:t>Notifications support SMS,Email,Whatsapp,and SystemChannels,with sent/read time stamps for audit trails.</a:t>
            </a:r>
          </a:p>
          <a:p>
            <a:r>
              <a:rPr lang="en-US" dirty="0"/>
              <a:t>Referential intergrity:</a:t>
            </a:r>
          </a:p>
          <a:p>
            <a:r>
              <a:rPr lang="en-US" dirty="0"/>
              <a:t>All tables connected with FK constraints,RESTRICT on delete protects historical data,CASADE on update keeps IDs in sync</a:t>
            </a:r>
          </a:p>
          <a:p>
            <a:r>
              <a:rPr lang="en-US" dirty="0"/>
              <a:t>Event Schedular:</a:t>
            </a:r>
          </a:p>
          <a:p>
            <a:r>
              <a:rPr lang="en-US" dirty="0"/>
              <a:t>MYSQL Event Schedular enabled (SET GLOBALevent_schedular=ON) to automate overdue status updates.</a:t>
            </a:r>
          </a:p>
          <a:p>
            <a:r>
              <a:rPr lang="en-US" dirty="0"/>
              <a:t>Multi Channel Alerts:</a:t>
            </a:r>
          </a:p>
          <a:p>
            <a:r>
              <a:rPr lang="en-US" dirty="0"/>
              <a:t>Notifications Support SMS ,Email,Whatsapp,and System channels,with sent/read timestamps for audit trails</a:t>
            </a:r>
          </a:p>
          <a:p>
            <a:r>
              <a:rPr lang="en-US" dirty="0"/>
              <a:t>Rich Enumerations:</a:t>
            </a:r>
          </a:p>
          <a:p>
            <a:r>
              <a:rPr lang="en-US" dirty="0"/>
              <a:t>ENUMS enforce data quality :Zone_type(5 values),payment_method(5),transaction status(4),notification type(5)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NOTIFICATION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CHANNEL</a:t>
            </a:r>
          </a:p>
          <a:p>
            <a:r>
              <a:rPr lang="en-US" dirty="0"/>
              <a:t>SMS</a:t>
            </a:r>
          </a:p>
          <a:p>
            <a:endParaRPr lang="en-US" dirty="0"/>
          </a:p>
          <a:p>
            <a:r>
              <a:rPr lang="en-US" dirty="0"/>
              <a:t>Email</a:t>
            </a:r>
          </a:p>
          <a:p>
            <a:endParaRPr lang="en-US" dirty="0"/>
          </a:p>
          <a:p>
            <a:r>
              <a:rPr lang="en-US" dirty="0"/>
              <a:t>Whatsapp</a:t>
            </a:r>
          </a:p>
          <a:p>
            <a:endParaRPr lang="en-US" dirty="0"/>
          </a:p>
          <a:p>
            <a:r>
              <a:rPr lang="en-US" dirty="0"/>
              <a:t>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USE CASE</a:t>
            </a:r>
          </a:p>
          <a:p>
            <a:r>
              <a:rPr lang="en-US" dirty="0"/>
              <a:t>Instant alerts_Payment confirmations and reminders</a:t>
            </a:r>
          </a:p>
          <a:p>
            <a:r>
              <a:rPr lang="en-US" dirty="0"/>
              <a:t>Formal receipts and balance statements to clients</a:t>
            </a:r>
          </a:p>
          <a:p>
            <a:r>
              <a:rPr lang="en-US" dirty="0"/>
              <a:t>Urgent overdue alerts and partial payment notices</a:t>
            </a:r>
          </a:p>
          <a:p>
            <a:endParaRPr lang="en-US" dirty="0"/>
          </a:p>
          <a:p>
            <a:r>
              <a:rPr lang="en-US" dirty="0"/>
              <a:t>Automated system generated events (future use)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SUMMARY FOR MY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 schema with 6 tables</a:t>
            </a:r>
          </a:p>
          <a:p>
            <a:r>
              <a:rPr lang="en-US" u="sng" dirty="0"/>
              <a:t>Comprehensive installment life </a:t>
            </a:r>
            <a:r>
              <a:rPr lang="en-US" u="sng" dirty="0" err="1"/>
              <a:t>cycle</a:t>
            </a:r>
            <a:r>
              <a:rPr lang="en-US" dirty="0" err="1"/>
              <a:t>:from</a:t>
            </a:r>
            <a:r>
              <a:rPr lang="en-US" dirty="0"/>
              <a:t> sale agreement through payment tracking to notification</a:t>
            </a:r>
          </a:p>
          <a:p>
            <a:r>
              <a:rPr lang="en-US" u="sng" dirty="0"/>
              <a:t>Multi channel notification system </a:t>
            </a:r>
            <a:r>
              <a:rPr lang="en-US" dirty="0"/>
              <a:t>supports SMS,Email,and Whatsapp with audit timestamps</a:t>
            </a:r>
          </a:p>
          <a:p>
            <a:r>
              <a:rPr lang="en-US" dirty="0"/>
              <a:t>Designed for real Estate Uganda land market:UGX pricing,MTN Mobile Money,Local parcel references</a:t>
            </a:r>
          </a:p>
          <a:p>
            <a:r>
              <a:rPr lang="en-US" u="sng" dirty="0"/>
              <a:t>Event schedular </a:t>
            </a:r>
            <a:r>
              <a:rPr lang="en-US" dirty="0"/>
              <a:t>enabled for future automationof overdue  status updates and reminders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573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Mbarara  university of science and Technology</vt:lpstr>
      <vt:lpstr>PROJECT OVERVIEW </vt:lpstr>
      <vt:lpstr>DATABASE SCHEMA OF MY PROJECT 6 relational tables, with full foreign key constraints</vt:lpstr>
      <vt:lpstr>NOTABLE SYSTEM FEATURES </vt:lpstr>
      <vt:lpstr>NOTIFICATION SYSTEM</vt:lpstr>
      <vt:lpstr>SUMMARY FOR MY PROJECT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ATUKWATSE AVIN</dc:creator>
  <cp:lastModifiedBy>ATUKWATSE AVIN</cp:lastModifiedBy>
  <cp:revision>3</cp:revision>
  <dcterms:created xsi:type="dcterms:W3CDTF">2026-05-05T18:12:00Z</dcterms:created>
  <dcterms:modified xsi:type="dcterms:W3CDTF">2026-05-06T20:07:49Z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40AE14CA508C439FBF9FD3266350A4C8_12</vt:lpwstr>
  </property>
</Properties>
</file>